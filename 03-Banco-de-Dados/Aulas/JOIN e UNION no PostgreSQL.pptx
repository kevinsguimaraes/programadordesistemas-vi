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5481" y="2686050"/>
            <a:ext cx="8301037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F8FAFC"/>
                </a:solidFill>
                <a:latin typeface="Inter"/>
              </a:rPr>
              <a:t>JOIN e UNION no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43300"/>
            <a:ext cx="762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Como relacionar tabelas com JOIN e como combinar resultados de consultas com UNION e UNION 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90887"/>
            <a:ext cx="11049000" cy="528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04962"/>
            <a:ext cx="5334000" cy="1447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04962"/>
            <a:ext cx="5334000" cy="144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67930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1. Por que precisamos de JOIN?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71575"/>
            <a:ext cx="11049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Em bancos de dados relacionais, as informações são normalizadas em várias tabelas: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433762"/>
            <a:ext cx="10629900" cy="242887"/>
          </a:xfrm>
          <a:prstGeom prst="rect">
            <a:avLst/>
          </a:prstGeom>
          <a:noFill/>
        </p:spPr>
        <p:txBody>
          <a:bodyPr wrap="square" lIns="126057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E2E8F0"/>
                </a:solidFill>
                <a:latin typeface="Inter SemiBold"/>
              </a:rPr>
              <a:t>A coluna 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curso_id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 relaciona o aluno ao curso. O </a:t>
            </a:r>
            <a:r>
              <a:rPr b="0" sz="1275" i="0" u="none">
                <a:solidFill>
                  <a:srgbClr val="E2E8F0"/>
                </a:solidFill>
                <a:latin typeface="Inter Black"/>
              </a:rPr>
              <a:t>JOIN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 combina essas informações através de uma condição de relacionamento.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852612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Tabela: alunos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1852612"/>
            <a:ext cx="50806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Tabela: cursos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471862"/>
            <a:ext cx="126057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0150"/>
            <a:ext cx="5334000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255531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2. INNER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O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INNER JOIN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retorna somente os registros que possuem correspondência em ambas as tabelas.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0B981"/>
                </a:solidFill>
                <a:latin typeface="Inter"/>
              </a:rPr>
              <a:t>Regra de Ouro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933575"/>
            <a:ext cx="4838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F8FAFC"/>
                </a:solidFill>
                <a:latin typeface="Inter"/>
              </a:rPr>
              <a:t>INNER JOIN = Somente correspondências nos dois lados.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619375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Registros sem correspondência (órfãos ou sem associação) são descartados do resultado final.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668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0150"/>
            <a:ext cx="5334000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23002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3. LEFT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Mantém todos os registros da tabela da esquerda e traz as correspondências da direita.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Regra de Ouro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933575"/>
            <a:ext cx="4838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F8FAFC"/>
                </a:solidFill>
                <a:latin typeface="Inter"/>
              </a:rPr>
              <a:t>LEFT JOIN = Todos da esquerda + correspondências da direita.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619375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Se não houver correspondência na tabela da direita, as colunas exibem 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NULL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668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0150"/>
            <a:ext cx="5334000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257532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4. RIGHT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Mantém todos os registros da tabela da direita e busca correspondências na esquerda.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A855F7"/>
                </a:solidFill>
                <a:latin typeface="Inter"/>
              </a:rPr>
              <a:t>Regra de Ouro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933575"/>
            <a:ext cx="48387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F8FAFC"/>
                </a:solidFill>
                <a:latin typeface="Inter"/>
              </a:rPr>
              <a:t>RIGHT JOIN = Correspondências da esquerda + todos da direita.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619375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Cursos sem alunos matriculados também aparecem, com dados do aluno como 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NULL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668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465558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5. Comparação dos JOINs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0150"/>
            <a:ext cx="11049000" cy="2062162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200150"/>
          <a:ext cx="11048999" cy="206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48495"/>
                <a:gridCol w="8800504"/>
              </a:tblGrid>
              <a:tr h="51554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Tipo de JOIN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8FAFC"/>
                          </a:solidFill>
                          <a:latin typeface="Inter SemiBold"/>
                        </a:rPr>
                        <a:t>O que garante no resultado?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</a:tr>
              <a:tr h="51554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Inter"/>
                        </a:rPr>
                        <a:t>INNER JOIN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Somente correspondências perfeitas entre as duas tabelas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554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Inter"/>
                        </a:rPr>
                        <a:t>LEFT JOIN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Todos os registros da tabela da esquerda (mesmo sem match)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554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94A3B8"/>
                          </a:solidFill>
                          <a:latin typeface="Inter"/>
                        </a:rPr>
                        <a:t>RIGHT JOIN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Todos os registros da tabela da direita (mesmo sem match)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1690687"/>
            <a:ext cx="22484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9995" y="1690687"/>
            <a:ext cx="8800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09800"/>
            <a:ext cx="22484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19995" y="2209800"/>
            <a:ext cx="8800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728912"/>
            <a:ext cx="22484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9995" y="2728912"/>
            <a:ext cx="8800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48025"/>
            <a:ext cx="22484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9995" y="3248025"/>
            <a:ext cx="88005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2762"/>
            <a:ext cx="11049000" cy="528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34566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6. JOIN com WHERE e Aliases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195637"/>
            <a:ext cx="10629900" cy="242887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E2E8F0"/>
                </a:solidFill>
                <a:latin typeface="Inter SemiBold"/>
              </a:rPr>
              <a:t>O 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ON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 define o relacionamento entre tabelas. O 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WHERE</a:t>
            </a:r>
            <a:r>
              <a:rPr b="0" sz="1275" i="0" u="none">
                <a:solidFill>
                  <a:srgbClr val="E2E8F0"/>
                </a:solidFill>
                <a:latin typeface="Inter SemiBold"/>
              </a:rPr>
              <a:t> filtra o resultado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00150"/>
            <a:ext cx="5334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Uso de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Aliases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para simplificar nomes longos: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200150"/>
            <a:ext cx="5334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Filtrando dados pós-junção com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WHERE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24212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0150"/>
            <a:ext cx="5334000" cy="150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704088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7. UNION (Empilhamento de Consultas)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O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UNION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combina resultados de duas consultas verticais. Exige mesmo número de colunas e tipos compatíveis.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Remoção de Duplicados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885950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Inter"/>
              </a:rPr>
              <a:t>Se o mesmo registro (ex: "Maria") aparecer nas duas consultas, o 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UNION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retorna apenas uma ocorrência.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668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0150"/>
            <a:ext cx="5334000" cy="1504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244030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8. UNION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O </a:t>
            </a:r>
            <a:r>
              <a:rPr b="1" sz="1275" i="0" u="none">
                <a:solidFill>
                  <a:srgbClr val="94A3B8"/>
                </a:solidFill>
                <a:latin typeface="Inter"/>
              </a:rPr>
              <a:t>UNION ALL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também combina os resultados das consultas verticais, mas mantém todos os registros duplicados.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0B981"/>
                </a:solidFill>
                <a:latin typeface="Inter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885950"/>
            <a:ext cx="4838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Inter"/>
              </a:rPr>
              <a:t>Como não executa o filtro de ordenação para remover duplicatas, o 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UNION ALL</a:t>
            </a:r>
            <a:r>
              <a:rPr b="0" sz="1350" i="0" u="none">
                <a:solidFill>
                  <a:srgbClr val="F8FAFC"/>
                </a:solidFill>
                <a:latin typeface="Inter"/>
              </a:rPr>
              <a:t> é consideravelmente mais rápido.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668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5334000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34000" cy="2486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6675834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9. JOIN x UNION: A Grande Diferença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1547812"/>
            <a:ext cx="5080635" cy="2286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1985962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Inter"/>
              </a:rPr>
              <a:t>Combina informações </a:t>
            </a:r>
            <a:r>
              <a:rPr b="1" sz="1275" i="0" u="none">
                <a:solidFill>
                  <a:srgbClr val="F8FAFC"/>
                </a:solidFill>
                <a:latin typeface="Inter"/>
              </a:rPr>
              <a:t>lado a lado</a:t>
            </a:r>
            <a:r>
              <a:rPr b="0" sz="1275" i="0" u="none">
                <a:solidFill>
                  <a:srgbClr val="F8FAFC"/>
                </a:solidFill>
                <a:latin typeface="Inter"/>
              </a:rPr>
              <a:t> (horizontalmente), baseando-se em chaves relacionais.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447800"/>
            <a:ext cx="5080635" cy="22860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0B981"/>
                </a:solidFill>
                <a:latin typeface="Inter"/>
              </a:rPr>
              <a:t>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1885950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8FAFC"/>
                </a:solidFill>
                <a:latin typeface="Inter"/>
              </a:rPr>
              <a:t>Combina resultados </a:t>
            </a:r>
            <a:r>
              <a:rPr b="1" sz="1275" i="0" u="none">
                <a:solidFill>
                  <a:srgbClr val="F8FAFC"/>
                </a:solidFill>
                <a:latin typeface="Inter"/>
              </a:rPr>
              <a:t>um abaixo do outro</a:t>
            </a:r>
            <a:r>
              <a:rPr b="0" sz="1275" i="0" u="none">
                <a:solidFill>
                  <a:srgbClr val="F8FAFC"/>
                </a:solidFill>
                <a:latin typeface="Inter"/>
              </a:rPr>
              <a:t> (verticalmente), baseando-se na compatibilidade de colunas.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156686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1466850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48075"/>
            <a:ext cx="11049000" cy="528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45255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10. Guia de Memorização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790950"/>
            <a:ext cx="10629900" cy="242887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E2E8F0"/>
                </a:solidFill>
                <a:latin typeface="Inter SemiBold"/>
              </a:rPr>
              <a:t>"JOIN coloca informações lado a lado. UNION coloca resultados um abaixo do outro."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200150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JOIN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Relaciona tabelas horizontalmente.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576387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INNER JOIN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Somente correspondências exatas em ambos os lados.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952625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LEFT JOIN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Todos da tabela esquerda + correspondências da direita.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328862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RIGHT JOIN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Correspondências da esquerda + todos da tabela direita.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05100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UNION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Junta consultas verticalmente e </a:t>
            </a:r>
            <a:r>
              <a:rPr b="1" sz="1275" i="0" u="none">
                <a:solidFill>
                  <a:srgbClr val="F8FAFC"/>
                </a:solidFill>
                <a:latin typeface="Inter"/>
              </a:rPr>
              <a:t>remove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duplicados.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081337"/>
            <a:ext cx="107823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Inter"/>
              </a:rPr>
              <a:t>UNION ALL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→ Junta consultas verticalmente e </a:t>
            </a:r>
            <a:r>
              <a:rPr b="1" sz="1275" i="0" u="none">
                <a:solidFill>
                  <a:srgbClr val="F8FAFC"/>
                </a:solidFill>
                <a:latin typeface="Inter"/>
              </a:rPr>
              <a:t>mantém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duplicados.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19525"/>
            <a:ext cx="152400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38250"/>
            <a:ext cx="16192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14487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90725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66962"/>
            <a:ext cx="1619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43200"/>
            <a:ext cx="1619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19437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391048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Inter"/>
              </a:rPr>
              <a:t>11.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200150"/>
            <a:ext cx="11049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Consulta complexa unindo relacionamentos, filtros e ordenação no PostgreSQL: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38773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F8FAFC"/>
                </a:solidFill>
                <a:latin typeface="Inter SemiBold"/>
              </a:rPr>
              <a:t>Dúvidas ou 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72148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